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2092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‹#›</a:t>
            </a:fld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‹#›</a:t>
            </a:fld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‹#›</a:t>
            </a:fld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‹#›</a:t>
            </a:fld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‹#›</a:t>
            </a:fld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7617" y="9303207"/>
            <a:ext cx="705484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‹#›</a:t>
            </a:fld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78739"/>
            <a:ext cx="5593715" cy="805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5080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6350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3207" y="3765041"/>
            <a:ext cx="4204970" cy="1842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Academic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Session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July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-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Dec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2024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9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Times New Roman"/>
                <a:cs typeface="Times New Roman"/>
              </a:rPr>
              <a:t>Laboratory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Manual</a:t>
            </a:r>
            <a:endParaRPr sz="1800">
              <a:latin typeface="Times New Roman"/>
              <a:cs typeface="Times New Roman"/>
            </a:endParaRPr>
          </a:p>
          <a:p>
            <a:pPr marL="12700" marR="5080" algn="ctr">
              <a:lnSpc>
                <a:spcPts val="3050"/>
              </a:lnSpc>
              <a:spcBef>
                <a:spcPts val="70"/>
              </a:spcBef>
            </a:pPr>
            <a:r>
              <a:rPr sz="1800" b="1" dirty="0">
                <a:latin typeface="Times New Roman"/>
                <a:cs typeface="Times New Roman"/>
              </a:rPr>
              <a:t>Course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Name: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-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Introduction</a:t>
            </a:r>
            <a:r>
              <a:rPr sz="1800" b="1" spc="-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b="1" spc="-75" dirty="0">
                <a:solidFill>
                  <a:srgbClr val="001F5F"/>
                </a:solidFill>
                <a:latin typeface="Times New Roman"/>
                <a:cs typeface="Times New Roman"/>
              </a:rPr>
              <a:t>To</a:t>
            </a:r>
            <a:r>
              <a:rPr sz="18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1F5F"/>
                </a:solidFill>
                <a:latin typeface="Times New Roman"/>
                <a:cs typeface="Times New Roman"/>
              </a:rPr>
              <a:t>Core</a:t>
            </a:r>
            <a:r>
              <a:rPr sz="18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Java </a:t>
            </a:r>
            <a:r>
              <a:rPr sz="1800" b="1" dirty="0">
                <a:latin typeface="Times New Roman"/>
                <a:cs typeface="Times New Roman"/>
              </a:rPr>
              <a:t>Course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Code: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-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BTIT307N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4092" y="6354140"/>
            <a:ext cx="1943735" cy="133985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65"/>
              </a:spcBef>
            </a:pPr>
            <a:r>
              <a:rPr sz="1600" b="1" spc="-10" dirty="0">
                <a:latin typeface="Times New Roman"/>
                <a:cs typeface="Times New Roman"/>
              </a:rPr>
              <a:t>Submitted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To:</a:t>
            </a:r>
            <a:endParaRPr sz="16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865"/>
              </a:spcBef>
            </a:pPr>
            <a:r>
              <a:rPr sz="1600" b="1" spc="-10" dirty="0">
                <a:solidFill>
                  <a:srgbClr val="1F4E79"/>
                </a:solidFill>
                <a:latin typeface="Times New Roman"/>
                <a:cs typeface="Times New Roman"/>
              </a:rPr>
              <a:t>Prof.</a:t>
            </a:r>
            <a:r>
              <a:rPr sz="1600" b="1" spc="-90" dirty="0">
                <a:solidFill>
                  <a:srgbClr val="1F4E79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1F4E79"/>
                </a:solidFill>
                <a:latin typeface="Times New Roman"/>
                <a:cs typeface="Times New Roman"/>
              </a:rPr>
              <a:t>Ankit</a:t>
            </a:r>
            <a:r>
              <a:rPr sz="1600" b="1" spc="-85" dirty="0">
                <a:solidFill>
                  <a:srgbClr val="1F4E79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1F4E79"/>
                </a:solidFill>
                <a:latin typeface="Times New Roman"/>
                <a:cs typeface="Times New Roman"/>
              </a:rPr>
              <a:t>Upadhyay</a:t>
            </a:r>
            <a:endParaRPr sz="1600">
              <a:latin typeface="Times New Roman"/>
              <a:cs typeface="Times New Roman"/>
            </a:endParaRPr>
          </a:p>
          <a:p>
            <a:pPr marL="21590" marR="88900" indent="-9525">
              <a:lnSpc>
                <a:spcPct val="103699"/>
              </a:lnSpc>
              <a:spcBef>
                <a:spcPts val="795"/>
              </a:spcBef>
            </a:pPr>
            <a:r>
              <a:rPr sz="1600" b="1" dirty="0">
                <a:solidFill>
                  <a:srgbClr val="1F4E79"/>
                </a:solidFill>
                <a:latin typeface="Times New Roman"/>
                <a:cs typeface="Times New Roman"/>
              </a:rPr>
              <a:t>Assistant</a:t>
            </a:r>
            <a:r>
              <a:rPr sz="1600" b="1" spc="-100" dirty="0">
                <a:solidFill>
                  <a:srgbClr val="1F4E79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1F4E79"/>
                </a:solidFill>
                <a:latin typeface="Times New Roman"/>
                <a:cs typeface="Times New Roman"/>
              </a:rPr>
              <a:t>Professor, </a:t>
            </a:r>
            <a:r>
              <a:rPr sz="1600" b="1" spc="-20" dirty="0">
                <a:solidFill>
                  <a:srgbClr val="1F4E79"/>
                </a:solidFill>
                <a:latin typeface="Times New Roman"/>
                <a:cs typeface="Times New Roman"/>
              </a:rPr>
              <a:t>SVIIT,</a:t>
            </a:r>
            <a:r>
              <a:rPr sz="1600" b="1" spc="-45" dirty="0">
                <a:solidFill>
                  <a:srgbClr val="1F4E79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1F4E79"/>
                </a:solidFill>
                <a:latin typeface="Times New Roman"/>
                <a:cs typeface="Times New Roman"/>
              </a:rPr>
              <a:t>SVVV</a:t>
            </a:r>
            <a:r>
              <a:rPr sz="1600" b="1" spc="-50" dirty="0">
                <a:solidFill>
                  <a:srgbClr val="1F4E79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1F4E79"/>
                </a:solidFill>
                <a:latin typeface="Times New Roman"/>
                <a:cs typeface="Times New Roman"/>
              </a:rPr>
              <a:t>Indore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03750" y="6354140"/>
            <a:ext cx="2050414" cy="1342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6559" indent="8890">
              <a:lnSpc>
                <a:spcPct val="145100"/>
              </a:lnSpc>
              <a:spcBef>
                <a:spcPts val="100"/>
              </a:spcBef>
            </a:pPr>
            <a:r>
              <a:rPr sz="1600" b="1" spc="-10" dirty="0">
                <a:latin typeface="Times New Roman"/>
                <a:cs typeface="Times New Roman"/>
              </a:rPr>
              <a:t>Submitted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By: </a:t>
            </a:r>
            <a:r>
              <a:rPr lang="en-IN" sz="1600" b="1" spc="-20" dirty="0">
                <a:solidFill>
                  <a:srgbClr val="1F4E79"/>
                </a:solidFill>
                <a:latin typeface="Times New Roman"/>
                <a:cs typeface="Times New Roman"/>
              </a:rPr>
              <a:t>sonal jamliya</a:t>
            </a:r>
            <a:r>
              <a:rPr sz="1600" b="1" spc="-10" dirty="0">
                <a:solidFill>
                  <a:srgbClr val="1F4E79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Enrollment</a:t>
            </a:r>
            <a:r>
              <a:rPr sz="1600" b="1" spc="-25" dirty="0">
                <a:latin typeface="Times New Roman"/>
                <a:cs typeface="Times New Roman"/>
              </a:rPr>
              <a:t> No:</a:t>
            </a:r>
            <a:endParaRPr sz="16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70"/>
              </a:spcBef>
            </a:pPr>
            <a:r>
              <a:rPr sz="1600" b="1" spc="-10" dirty="0">
                <a:solidFill>
                  <a:srgbClr val="1F4E79"/>
                </a:solidFill>
                <a:latin typeface="Times New Roman"/>
                <a:cs typeface="Times New Roman"/>
              </a:rPr>
              <a:t>23100BTAIMLM145</a:t>
            </a:r>
            <a:r>
              <a:rPr lang="en-IN" sz="1600" b="1" spc="-10" dirty="0">
                <a:solidFill>
                  <a:srgbClr val="1F4E79"/>
                </a:solidFill>
                <a:latin typeface="Times New Roman"/>
                <a:cs typeface="Times New Roman"/>
              </a:rPr>
              <a:t>66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9875" y="1337310"/>
            <a:ext cx="2144395" cy="2051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079" y="1077691"/>
            <a:ext cx="1144031" cy="12199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84884" y="78739"/>
            <a:ext cx="5596255" cy="17024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2540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3810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400">
              <a:latin typeface="Arial MT"/>
              <a:cs typeface="Arial MT"/>
            </a:endParaRPr>
          </a:p>
          <a:p>
            <a:pPr marL="2952115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Times New Roman"/>
                <a:cs typeface="Times New Roman"/>
              </a:rPr>
              <a:t>INDEX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1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7504" y="2503042"/>
          <a:ext cx="6751953" cy="6459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8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Experiment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Experiment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Page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Submission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Remarks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094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30-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07-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display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"Welcome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Programming!"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6675" marR="182245">
                        <a:lnSpc>
                          <a:spcPct val="103000"/>
                        </a:lnSpc>
                        <a:spcBef>
                          <a:spcPts val="2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calculate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two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numbers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entered</a:t>
                      </a:r>
                      <a:r>
                        <a:rPr sz="14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user.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13-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08-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demonstrate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types.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4-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385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27-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08-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store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6675" marR="580390">
                        <a:lnSpc>
                          <a:spcPct val="103000"/>
                        </a:lnSpc>
                        <a:spcBef>
                          <a:spcPts val="2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display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ages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family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members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4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array.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6-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69850">
                        <a:lnSpc>
                          <a:spcPts val="1625"/>
                        </a:lnSpc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25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02-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09-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25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6675" marR="362585">
                        <a:lnSpc>
                          <a:spcPct val="102899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entered</a:t>
                      </a:r>
                      <a:r>
                        <a:rPr sz="14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divisible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25"/>
                        </a:lnSpc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385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09-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09-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check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6675" marR="100330">
                        <a:lnSpc>
                          <a:spcPts val="1750"/>
                        </a:lnSpc>
                        <a:spcBef>
                          <a:spcPts val="5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whether</a:t>
                      </a:r>
                      <a:r>
                        <a:rPr sz="1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entered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positive,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negative,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zero.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23-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09-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classify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person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their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age.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10-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7385">
                <a:tc>
                  <a:txBody>
                    <a:bodyPr/>
                    <a:lstStyle/>
                    <a:p>
                      <a:pPr marL="69850">
                        <a:lnSpc>
                          <a:spcPts val="1605"/>
                        </a:lnSpc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05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30-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09-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05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displays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6675" marR="79375">
                        <a:lnSpc>
                          <a:spcPts val="1750"/>
                        </a:lnSpc>
                        <a:spcBef>
                          <a:spcPts val="4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days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4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month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switch</a:t>
                      </a:r>
                      <a:r>
                        <a:rPr sz="14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case.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12-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7385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14-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10-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print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first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6675" marR="99695">
                        <a:lnSpc>
                          <a:spcPts val="1750"/>
                        </a:lnSpc>
                        <a:spcBef>
                          <a:spcPts val="4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4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Fibonacci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numbers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4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loop.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9635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21-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10-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to: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6675" marR="169545">
                        <a:lnSpc>
                          <a:spcPct val="103600"/>
                        </a:lnSpc>
                        <a:spcBef>
                          <a:spcPts val="1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a)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loop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find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factorial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entered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user.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15-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78739"/>
            <a:ext cx="5596255" cy="805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2540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3810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7504" y="1042669"/>
          <a:ext cx="6751953" cy="1337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8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73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b)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do-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loop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reverse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6675" marR="395605">
                        <a:lnSpc>
                          <a:spcPct val="103000"/>
                        </a:lnSpc>
                        <a:spcBef>
                          <a:spcPts val="2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entered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display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result.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60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11-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11-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6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create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6675" marR="296545">
                        <a:lnSpc>
                          <a:spcPct val="102899"/>
                        </a:lnSpc>
                        <a:spcBef>
                          <a:spcPts val="2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objects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Vehicle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Car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call</a:t>
                      </a:r>
                      <a:r>
                        <a:rPr sz="1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their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methods.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2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04" y="78739"/>
            <a:ext cx="6559550" cy="1962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6230"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318770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320040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03800"/>
              </a:lnSpc>
              <a:spcBef>
                <a:spcPts val="1170"/>
              </a:spcBef>
            </a:pPr>
            <a:r>
              <a:rPr sz="1600" b="1" dirty="0">
                <a:latin typeface="Times New Roman"/>
                <a:cs typeface="Times New Roman"/>
              </a:rPr>
              <a:t>Q1.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Write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program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display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"Welcome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10" dirty="0">
                <a:latin typeface="Times New Roman"/>
                <a:cs typeface="Times New Roman"/>
              </a:rPr>
              <a:t> Programming!"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calculate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product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two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numbers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entered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by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user.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Times New Roman"/>
                <a:cs typeface="Times New Roman"/>
              </a:rPr>
              <a:t>Solution: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4804" y="6645909"/>
            <a:ext cx="7245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Output: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rcRect t="14353"/>
          <a:stretch/>
        </p:blipFill>
        <p:spPr>
          <a:xfrm>
            <a:off x="457200" y="2679700"/>
            <a:ext cx="6858000" cy="37499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6925056"/>
            <a:ext cx="4038600" cy="108496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3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04" y="78739"/>
            <a:ext cx="6756400" cy="2216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9380"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121920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123189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  <a:p>
            <a:pPr marL="12700" marR="5080" algn="just">
              <a:lnSpc>
                <a:spcPct val="103800"/>
              </a:lnSpc>
              <a:spcBef>
                <a:spcPts val="1170"/>
              </a:spcBef>
            </a:pPr>
            <a:r>
              <a:rPr sz="1600" b="1" dirty="0">
                <a:latin typeface="Times New Roman"/>
                <a:cs typeface="Times New Roman"/>
              </a:rPr>
              <a:t>Q2.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Create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program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demonstrate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all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basic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data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types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(int,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float, </a:t>
            </a:r>
            <a:r>
              <a:rPr sz="1600" b="1" dirty="0">
                <a:latin typeface="Times New Roman"/>
                <a:cs typeface="Times New Roman"/>
              </a:rPr>
              <a:t>double,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30" dirty="0">
                <a:latin typeface="Times New Roman"/>
                <a:cs typeface="Times New Roman"/>
              </a:rPr>
              <a:t>char,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Boolean)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by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performing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simple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operations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with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variables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of </a:t>
            </a:r>
            <a:r>
              <a:rPr sz="1600" b="1" dirty="0">
                <a:latin typeface="Times New Roman"/>
                <a:cs typeface="Times New Roman"/>
              </a:rPr>
              <a:t>each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type.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Times New Roman"/>
                <a:cs typeface="Times New Roman"/>
              </a:rPr>
              <a:t>Solution: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rcRect t="7365"/>
          <a:stretch/>
        </p:blipFill>
        <p:spPr>
          <a:xfrm>
            <a:off x="457200" y="2768600"/>
            <a:ext cx="6848475" cy="58404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4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78739"/>
            <a:ext cx="5596255" cy="805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2540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3810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4804" y="3633978"/>
            <a:ext cx="7245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Output: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042669"/>
            <a:ext cx="6858000" cy="20859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3913632"/>
            <a:ext cx="4591050" cy="159016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5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04" y="78739"/>
            <a:ext cx="6684009" cy="1962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1770"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194310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195580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03800"/>
              </a:lnSpc>
              <a:spcBef>
                <a:spcPts val="1170"/>
              </a:spcBef>
            </a:pPr>
            <a:r>
              <a:rPr sz="1600" b="1" dirty="0">
                <a:latin typeface="Times New Roman"/>
                <a:cs typeface="Times New Roman"/>
              </a:rPr>
              <a:t>Q3.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Write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program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store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display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ages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7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family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members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using </a:t>
            </a:r>
            <a:r>
              <a:rPr sz="1600" b="1" dirty="0">
                <a:latin typeface="Times New Roman"/>
                <a:cs typeface="Times New Roman"/>
              </a:rPr>
              <a:t>an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array.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Times New Roman"/>
                <a:cs typeface="Times New Roman"/>
              </a:rPr>
              <a:t>Solution: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rcRect t="8467"/>
          <a:stretch/>
        </p:blipFill>
        <p:spPr>
          <a:xfrm>
            <a:off x="457200" y="2540000"/>
            <a:ext cx="6858000" cy="528345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6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04" y="78739"/>
            <a:ext cx="6236335" cy="1206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9445"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642620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643890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600" b="1" spc="-10" dirty="0">
                <a:latin typeface="Times New Roman"/>
                <a:cs typeface="Times New Roman"/>
              </a:rPr>
              <a:t>Output: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295400"/>
            <a:ext cx="4543425" cy="435241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7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04" y="78739"/>
            <a:ext cx="6817995" cy="17132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785"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60325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61594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600" b="1" dirty="0">
                <a:latin typeface="Times New Roman"/>
                <a:cs typeface="Times New Roman"/>
              </a:rPr>
              <a:t>Q4.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Write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program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check</a:t>
            </a:r>
            <a:r>
              <a:rPr sz="1600" b="1" spc="-7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if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number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entered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by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user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is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divisible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by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5.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Times New Roman"/>
                <a:cs typeface="Times New Roman"/>
              </a:rPr>
              <a:t>Solution: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4804" y="6826122"/>
            <a:ext cx="7245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Output: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rcRect t="10733"/>
          <a:stretch/>
        </p:blipFill>
        <p:spPr>
          <a:xfrm>
            <a:off x="457200" y="2311400"/>
            <a:ext cx="6848475" cy="42598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7104888"/>
            <a:ext cx="3110229" cy="113461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8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04" y="78739"/>
            <a:ext cx="6236335" cy="1962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9445"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642620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643890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  <a:p>
            <a:pPr marL="12700" marR="81915">
              <a:lnSpc>
                <a:spcPct val="103800"/>
              </a:lnSpc>
              <a:spcBef>
                <a:spcPts val="1170"/>
              </a:spcBef>
            </a:pPr>
            <a:r>
              <a:rPr sz="1600" b="1" dirty="0">
                <a:latin typeface="Times New Roman"/>
                <a:cs typeface="Times New Roman"/>
              </a:rPr>
              <a:t>Q5.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Write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program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check</a:t>
            </a:r>
            <a:r>
              <a:rPr sz="1600" b="1" spc="-7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whether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number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entered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by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user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is </a:t>
            </a:r>
            <a:r>
              <a:rPr sz="1600" b="1" dirty="0">
                <a:latin typeface="Times New Roman"/>
                <a:cs typeface="Times New Roman"/>
              </a:rPr>
              <a:t>positive,</a:t>
            </a:r>
            <a:r>
              <a:rPr sz="1600" b="1" spc="-10" dirty="0">
                <a:latin typeface="Times New Roman"/>
                <a:cs typeface="Times New Roman"/>
              </a:rPr>
              <a:t> negative,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or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zero.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Times New Roman"/>
                <a:cs typeface="Times New Roman"/>
              </a:rPr>
              <a:t>Solution: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4804" y="7249794"/>
            <a:ext cx="7245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Output: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rcRect t="9661"/>
          <a:stretch/>
        </p:blipFill>
        <p:spPr>
          <a:xfrm>
            <a:off x="457200" y="2529840"/>
            <a:ext cx="6848475" cy="44744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7528559"/>
            <a:ext cx="1962150" cy="166547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9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04" y="78739"/>
            <a:ext cx="6856730" cy="2216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685"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22225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23495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03800"/>
              </a:lnSpc>
              <a:spcBef>
                <a:spcPts val="1170"/>
              </a:spcBef>
            </a:pPr>
            <a:r>
              <a:rPr sz="1600" b="1" dirty="0">
                <a:latin typeface="Times New Roman"/>
                <a:cs typeface="Times New Roman"/>
              </a:rPr>
              <a:t>Q6.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Write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program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classify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person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based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on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their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age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using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following criteria:</a:t>
            </a:r>
            <a:r>
              <a:rPr sz="1600" b="1" spc="-10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Age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&lt;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13: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Child,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13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&lt;=</a:t>
            </a:r>
            <a:r>
              <a:rPr sz="1600" b="1" spc="-10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Age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&lt;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20: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spc="-35" dirty="0">
                <a:latin typeface="Times New Roman"/>
                <a:cs typeface="Times New Roman"/>
              </a:rPr>
              <a:t>Teenager,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20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&lt;=</a:t>
            </a:r>
            <a:r>
              <a:rPr sz="1600" b="1" spc="-10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Age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&lt;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60:</a:t>
            </a:r>
            <a:r>
              <a:rPr sz="1600" b="1" spc="-10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Adult,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Age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600" b="1" dirty="0">
                <a:latin typeface="Times New Roman"/>
                <a:cs typeface="Times New Roman"/>
              </a:rPr>
              <a:t>&gt;=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60: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Senior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Citizen.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Times New Roman"/>
                <a:cs typeface="Times New Roman"/>
              </a:rPr>
              <a:t>Solution: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rcRect t="8249"/>
          <a:stretch/>
        </p:blipFill>
        <p:spPr>
          <a:xfrm>
            <a:off x="457200" y="2768600"/>
            <a:ext cx="6858000" cy="5164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10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04" y="78739"/>
            <a:ext cx="6236335" cy="14598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9445"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642620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643890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Times New Roman"/>
                <a:cs typeface="Times New Roman"/>
              </a:rPr>
              <a:t>Output: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548383"/>
            <a:ext cx="3724275" cy="215125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11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04" y="78739"/>
            <a:ext cx="6661150" cy="2216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265"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217804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219075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03800"/>
              </a:lnSpc>
              <a:spcBef>
                <a:spcPts val="1170"/>
              </a:spcBef>
            </a:pPr>
            <a:r>
              <a:rPr sz="1600" b="1" dirty="0">
                <a:latin typeface="Times New Roman"/>
                <a:cs typeface="Times New Roman"/>
              </a:rPr>
              <a:t>Q7.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Write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program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that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takes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month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number (1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for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January,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2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for </a:t>
            </a:r>
            <a:r>
              <a:rPr sz="1600" b="1" spc="-10" dirty="0">
                <a:latin typeface="Times New Roman"/>
                <a:cs typeface="Times New Roman"/>
              </a:rPr>
              <a:t>February,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etc.)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displays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number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days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in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that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month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using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switch case.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Times New Roman"/>
                <a:cs typeface="Times New Roman"/>
              </a:rPr>
              <a:t>Solution: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rcRect t="10770"/>
          <a:stretch/>
        </p:blipFill>
        <p:spPr>
          <a:xfrm>
            <a:off x="457200" y="2978150"/>
            <a:ext cx="6848475" cy="55833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12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78739"/>
            <a:ext cx="5596255" cy="805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2540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3810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4804" y="7539355"/>
            <a:ext cx="7245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Output: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042669"/>
            <a:ext cx="6858000" cy="59912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7818437"/>
            <a:ext cx="5600700" cy="13144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13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04" y="78739"/>
            <a:ext cx="6713220" cy="17132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2560"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165100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166370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600" b="1" dirty="0">
                <a:latin typeface="Times New Roman"/>
                <a:cs typeface="Times New Roman"/>
              </a:rPr>
              <a:t>Q8.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Write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program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print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first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10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Fibonacci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numbers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using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for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loop.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Times New Roman"/>
                <a:cs typeface="Times New Roman"/>
              </a:rPr>
              <a:t>Solution: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4804" y="6353302"/>
            <a:ext cx="7245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Output: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rcRect t="15042" b="2588"/>
          <a:stretch/>
        </p:blipFill>
        <p:spPr>
          <a:xfrm>
            <a:off x="457200" y="2514600"/>
            <a:ext cx="6848475" cy="334225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6632447"/>
            <a:ext cx="4067175" cy="58991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14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04" y="78739"/>
            <a:ext cx="6807834" cy="2216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8580"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71120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72390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600" b="1" dirty="0">
                <a:latin typeface="Times New Roman"/>
                <a:cs typeface="Times New Roman"/>
              </a:rPr>
              <a:t>Q9.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a)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while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loop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find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factorial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number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entered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by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user.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ts val="1989"/>
              </a:lnSpc>
              <a:spcBef>
                <a:spcPts val="80"/>
              </a:spcBef>
            </a:pPr>
            <a:r>
              <a:rPr sz="1600" b="1" dirty="0">
                <a:latin typeface="Times New Roman"/>
                <a:cs typeface="Times New Roman"/>
              </a:rPr>
              <a:t>b)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do-</a:t>
            </a:r>
            <a:r>
              <a:rPr sz="1600" b="1" dirty="0">
                <a:latin typeface="Times New Roman"/>
                <a:cs typeface="Times New Roman"/>
              </a:rPr>
              <a:t>while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loop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reverse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number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entered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by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user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display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the </a:t>
            </a:r>
            <a:r>
              <a:rPr sz="1600" b="1" spc="-10" dirty="0">
                <a:latin typeface="Times New Roman"/>
                <a:cs typeface="Times New Roman"/>
              </a:rPr>
              <a:t>result.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Times New Roman"/>
                <a:cs typeface="Times New Roman"/>
              </a:rPr>
              <a:t>Solution: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rcRect t="8740"/>
          <a:stretch/>
        </p:blipFill>
        <p:spPr>
          <a:xfrm>
            <a:off x="457200" y="2851150"/>
            <a:ext cx="6858000" cy="57103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15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884" y="78739"/>
            <a:ext cx="5596255" cy="805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2540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3810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4804" y="4072890"/>
            <a:ext cx="7245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Output: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042669"/>
            <a:ext cx="6848475" cy="25336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4352544"/>
            <a:ext cx="6143625" cy="115125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16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04" y="78739"/>
            <a:ext cx="6567170" cy="24688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9245" algn="ctr">
              <a:lnSpc>
                <a:spcPts val="2380"/>
              </a:lnSpc>
              <a:spcBef>
                <a:spcPts val="90"/>
              </a:spcBef>
            </a:pPr>
            <a:r>
              <a:rPr sz="2000" spc="85" dirty="0">
                <a:latin typeface="Arial MT"/>
                <a:cs typeface="Arial MT"/>
              </a:rPr>
              <a:t>Shri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Vaishnav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90" dirty="0">
                <a:latin typeface="Arial MT"/>
                <a:cs typeface="Arial MT"/>
              </a:rPr>
              <a:t>Vidhyapeeth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Vishwavidayalaya</a:t>
            </a:r>
            <a:endParaRPr sz="2000">
              <a:latin typeface="Arial MT"/>
              <a:cs typeface="Arial MT"/>
            </a:endParaRPr>
          </a:p>
          <a:p>
            <a:pPr marL="311785" algn="ctr">
              <a:lnSpc>
                <a:spcPts val="2115"/>
              </a:lnSpc>
            </a:pPr>
            <a:r>
              <a:rPr sz="1800" spc="80" dirty="0">
                <a:latin typeface="Arial MT"/>
                <a:cs typeface="Arial MT"/>
              </a:rPr>
              <a:t>Shri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65" dirty="0">
                <a:latin typeface="Arial MT"/>
                <a:cs typeface="Arial MT"/>
              </a:rPr>
              <a:t>Vaishnav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Institute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8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85" dirty="0">
                <a:latin typeface="Arial MT"/>
                <a:cs typeface="Arial MT"/>
              </a:rPr>
              <a:t>Information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70" dirty="0">
                <a:latin typeface="Arial MT"/>
                <a:cs typeface="Arial MT"/>
              </a:rPr>
              <a:t>Technology</a:t>
            </a:r>
            <a:endParaRPr sz="1800">
              <a:latin typeface="Arial MT"/>
              <a:cs typeface="Arial MT"/>
            </a:endParaRPr>
          </a:p>
          <a:p>
            <a:pPr marL="313055" algn="ctr">
              <a:lnSpc>
                <a:spcPts val="1650"/>
              </a:lnSpc>
            </a:pPr>
            <a:r>
              <a:rPr sz="1400" spc="60" dirty="0">
                <a:latin typeface="Arial MT"/>
                <a:cs typeface="Arial MT"/>
              </a:rPr>
              <a:t>Indore-</a:t>
            </a:r>
            <a:r>
              <a:rPr sz="1400" spc="55" dirty="0">
                <a:latin typeface="Arial MT"/>
                <a:cs typeface="Arial MT"/>
              </a:rPr>
              <a:t>Ujjain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Road,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65" dirty="0">
                <a:latin typeface="Arial MT"/>
                <a:cs typeface="Arial MT"/>
              </a:rPr>
              <a:t>Indore-</a:t>
            </a:r>
            <a:r>
              <a:rPr sz="1400" spc="-10" dirty="0">
                <a:latin typeface="Arial MT"/>
                <a:cs typeface="Arial MT"/>
              </a:rPr>
              <a:t>453111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03400"/>
              </a:lnSpc>
              <a:spcBef>
                <a:spcPts val="1175"/>
              </a:spcBef>
            </a:pPr>
            <a:r>
              <a:rPr sz="1600" b="1" dirty="0">
                <a:latin typeface="Times New Roman"/>
                <a:cs typeface="Times New Roman"/>
              </a:rPr>
              <a:t>Q10.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Create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class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Vehicle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with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method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start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those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prints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"Vehicles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can </a:t>
            </a:r>
            <a:r>
              <a:rPr sz="1600" b="1" dirty="0">
                <a:latin typeface="Times New Roman"/>
                <a:cs typeface="Times New Roman"/>
              </a:rPr>
              <a:t>start."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Create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subclass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Car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that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overrides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start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method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print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"Cars </a:t>
            </a:r>
            <a:r>
              <a:rPr sz="1600" b="1" dirty="0">
                <a:latin typeface="Times New Roman"/>
                <a:cs typeface="Times New Roman"/>
              </a:rPr>
              <a:t>can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start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with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key."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Write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program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create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objects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Vehicle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25" dirty="0">
                <a:latin typeface="Times New Roman"/>
                <a:cs typeface="Times New Roman"/>
              </a:rPr>
              <a:t>Car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call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their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start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methods.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Times New Roman"/>
                <a:cs typeface="Times New Roman"/>
              </a:rPr>
              <a:t>Solution: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9216" y="9268662"/>
            <a:ext cx="6897370" cy="6350"/>
          </a:xfrm>
          <a:custGeom>
            <a:avLst/>
            <a:gdLst/>
            <a:ahLst/>
            <a:cxnLst/>
            <a:rect l="l" t="t" r="r" b="b"/>
            <a:pathLst>
              <a:path w="6897370" h="6350">
                <a:moveTo>
                  <a:pt x="6896988" y="0"/>
                </a:moveTo>
                <a:lnTo>
                  <a:pt x="0" y="0"/>
                </a:lnTo>
                <a:lnTo>
                  <a:pt x="0" y="6096"/>
                </a:lnTo>
                <a:lnTo>
                  <a:pt x="6896988" y="6096"/>
                </a:lnTo>
                <a:lnTo>
                  <a:pt x="68969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4804" y="8255889"/>
            <a:ext cx="7245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Output: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rcRect t="10420"/>
          <a:stretch/>
        </p:blipFill>
        <p:spPr>
          <a:xfrm>
            <a:off x="457200" y="3124200"/>
            <a:ext cx="6525259" cy="48873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8534400"/>
            <a:ext cx="4286250" cy="58102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50"/>
              </a:lnSpc>
            </a:pPr>
            <a:r>
              <a:rPr dirty="0">
                <a:solidFill>
                  <a:srgbClr val="000000"/>
                </a:solidFill>
              </a:rPr>
              <a:t>17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dirty="0"/>
              <a:t>P</a:t>
            </a:r>
            <a:r>
              <a:rPr spc="4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</a:t>
            </a:r>
            <a:r>
              <a:rPr spc="40" dirty="0"/>
              <a:t> </a:t>
            </a:r>
            <a:r>
              <a:rPr spc="-50" dirty="0"/>
              <a:t>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987</Words>
  <Application>Microsoft Office PowerPoint</Application>
  <PresentationFormat>Custom</PresentationFormat>
  <Paragraphs>190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 MT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yashrajdeshpande057@gmail.com</dc:creator>
  <cp:lastModifiedBy>Sonal jamliya</cp:lastModifiedBy>
  <cp:revision>1</cp:revision>
  <dcterms:created xsi:type="dcterms:W3CDTF">2024-11-28T17:24:02Z</dcterms:created>
  <dcterms:modified xsi:type="dcterms:W3CDTF">2024-11-28T17:33:20Z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2024-11-27T00:00:00Z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2024-11-28T00:00:00Z</vt:filetime>
  </property>
  <property fmtid="{D5CDD505-2E9C-101B-9397-08002B2CF9AE}" pid="5" name="Producer">
    <vt:lpwstr>www.ilovepdf.com</vt:lpwstr>
  </property>
</Properties>
</file>